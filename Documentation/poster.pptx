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3"/>
  </p:notesMasterIdLst>
  <p:sldIdLst>
    <p:sldId id="263" r:id="rId2"/>
  </p:sldIdLst>
  <p:sldSz cx="43891200" cy="32918400"/>
  <p:notesSz cx="6858000" cy="9144000"/>
  <p:embeddedFontLst>
    <p:embeddedFont>
      <p:font typeface="Domine" panose="020B0604020202020204" charset="0"/>
      <p:regular r:id="rId4"/>
    </p:embeddedFont>
    <p:embeddedFont>
      <p:font typeface="Montserrat Extra Bold" panose="020B0604020202020204" charset="0"/>
      <p:bold r:id="rId5"/>
    </p:embeddedFont>
  </p:embeddedFontLst>
  <p:custDataLst>
    <p:tags r:id="rId6"/>
  </p:custDataLst>
  <p:defaultTextStyle>
    <a:defPPr>
      <a:defRPr lang="en-US"/>
    </a:defPPr>
    <a:lvl1pPr marL="0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1pPr>
    <a:lvl2pPr marL="2194039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2pPr>
    <a:lvl3pPr marL="4388077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3pPr>
    <a:lvl4pPr marL="6582120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4pPr>
    <a:lvl5pPr marL="8776160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5pPr>
    <a:lvl6pPr marL="10970199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6pPr>
    <a:lvl7pPr marL="13164238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7pPr>
    <a:lvl8pPr marL="15358277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8pPr>
    <a:lvl9pPr marL="17552318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  <p15:guide id="3" orient="horz" pos="10368" userDrawn="1">
          <p15:clr>
            <a:srgbClr val="A4A3A4"/>
          </p15:clr>
        </p15:guide>
        <p15:guide id="4" pos="138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65" autoAdjust="0"/>
    <p:restoredTop sz="93519" autoAdjust="0"/>
  </p:normalViewPr>
  <p:slideViewPr>
    <p:cSldViewPr snapToGrid="0">
      <p:cViewPr>
        <p:scale>
          <a:sx n="25" d="100"/>
          <a:sy n="25" d="100"/>
        </p:scale>
        <p:origin x="72" y="-1085"/>
      </p:cViewPr>
      <p:guideLst>
        <p:guide orient="horz" pos="6912"/>
        <p:guide pos="10368"/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5" Type="http://schemas.openxmlformats.org/officeDocument/2006/relationships/font" Target="fonts/font2.fntdata"/><Relationship Id="rId10" Type="http://schemas.openxmlformats.org/officeDocument/2006/relationships/tableStyles" Target="tableStyles.xml"/><Relationship Id="rId4" Type="http://schemas.openxmlformats.org/officeDocument/2006/relationships/font" Target="fonts/font1.fntdata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kern="1200"/>
            </a:defPPr>
            <a:lvl1pPr algn="r">
              <a:defRPr sz="1200"/>
            </a:lvl1pPr>
          </a:lstStyle>
          <a:p>
            <a:fld id="{7B0E8FA9-8B5F-4493-A208-FBBD06A1EBF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kern="1200"/>
            </a:defPPr>
            <a:lvl1pPr algn="r">
              <a:defRPr sz="1200"/>
            </a:lvl1pPr>
          </a:lstStyle>
          <a:p>
            <a:fld id="{CD15AFD9-35F1-4A8D-8AD3-EDB948176196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1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039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8077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2120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6160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0199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4238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58277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2318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96767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9462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4"/>
          <a:stretch>
            <a:fillRect/>
          </a:stretch>
        </p:blipFill>
        <p:spPr>
          <a:xfrm rot="16200000">
            <a:off x="-11074400" y="16459200"/>
            <a:ext cx="14274800" cy="3937000"/>
          </a:xfrm>
          <a:prstGeom prst="rect">
            <a:avLst/>
          </a:prstGeom>
        </p:spPr>
      </p:pic>
      <p:pic>
        <p:nvPicPr>
          <p:cNvPr id="3" name="New picture"/>
          <p:cNvPicPr/>
          <p:nvPr/>
        </p:nvPicPr>
        <p:blipFill>
          <a:blip r:embed="rId4"/>
          <a:stretch>
            <a:fillRect/>
          </a:stretch>
        </p:blipFill>
        <p:spPr>
          <a:xfrm rot="5400000">
            <a:off x="40690800" y="16459200"/>
            <a:ext cx="14274800" cy="3937000"/>
          </a:xfrm>
          <a:prstGeom prst="rect">
            <a:avLst/>
          </a:prstGeom>
        </p:spPr>
      </p:pic>
      <p:pic>
        <p:nvPicPr>
          <p:cNvPr id="4" name="New picture"/>
          <p:cNvPicPr/>
          <p:nvPr/>
        </p:nvPicPr>
        <p:blipFill>
          <a:blip r:embed="rId5"/>
          <a:stretch>
            <a:fillRect/>
          </a:stretch>
        </p:blipFill>
        <p:spPr>
          <a:xfrm>
            <a:off x="6946900" y="33426400"/>
            <a:ext cx="29997400" cy="1447800"/>
          </a:xfrm>
          <a:prstGeom prst="rect">
            <a:avLst/>
          </a:prstGeom>
        </p:spPr>
      </p:pic>
      <p:sp>
        <p:nvSpPr>
          <p:cNvPr id="5" name="New shape"/>
          <p:cNvSpPr/>
          <p:nvPr/>
        </p:nvSpPr>
        <p:spPr>
          <a:xfrm>
            <a:off x="69469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assessingslate  Size: 48x36</a:t>
            </a:r>
          </a:p>
        </p:txBody>
      </p:sp>
    </p:spTree>
    <p:extLst>
      <p:ext uri="{BB962C8B-B14F-4D97-AF65-F5344CB8AC3E}">
        <p14:creationId xmlns:p14="http://schemas.microsoft.com/office/powerpoint/2010/main" val="2054342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</p:sldLayoutIdLst>
  <p:transition/>
  <p:txStyles>
    <p:titleStyle>
      <a:defPPr>
        <a:defRPr kern="1200"/>
      </a:defPPr>
      <a:lvl1pPr algn="ctr" defTabSz="4389028" rtl="0" eaLnBrk="1" latinLnBrk="0" hangingPunct="1">
        <a:spcBef>
          <a:spcPct val="0"/>
        </a:spcBef>
        <a:buNone/>
        <a:defRPr sz="1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>
        <a:defRPr kern="1200"/>
      </a:defPPr>
      <a:lvl1pPr marL="0" indent="0" algn="l" defTabSz="4389028" rtl="0" eaLnBrk="1" latinLnBrk="0" hangingPunct="1">
        <a:spcBef>
          <a:spcPct val="20000"/>
        </a:spcBef>
        <a:buFont typeface="Arial" pitchFamily="34" charset="0"/>
        <a:buNone/>
        <a:defRPr sz="13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4389028" rtl="0" eaLnBrk="1" latinLnBrk="0" hangingPunct="1">
        <a:spcBef>
          <a:spcPct val="20000"/>
        </a:spcBef>
        <a:buFont typeface="Arial" pitchFamily="34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4389028" rtl="0" eaLnBrk="1" latinLnBrk="0" hangingPunct="1">
        <a:spcBef>
          <a:spcPct val="20000"/>
        </a:spcBef>
        <a:buFont typeface="Arial" pitchFamily="34" charset="0"/>
        <a:buChar char="–"/>
        <a:defRPr sz="9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4389028" rtl="0" eaLnBrk="1" latinLnBrk="0" hangingPunct="1">
        <a:spcBef>
          <a:spcPct val="20000"/>
        </a:spcBef>
        <a:buFont typeface="Arial" pitchFamily="34" charset="0"/>
        <a:buChar char="»"/>
        <a:defRPr sz="9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7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1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4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1">
            <a:extLst>
              <a:ext uri="{FF2B5EF4-FFF2-40B4-BE49-F238E27FC236}">
                <a16:creationId xmlns:a16="http://schemas.microsoft.com/office/drawing/2014/main" id="{EE7A5C51-35F0-4B71-992D-43D344D16C04}"/>
              </a:ext>
            </a:extLst>
          </p:cNvPr>
          <p:cNvSpPr txBox="1"/>
          <p:nvPr/>
        </p:nvSpPr>
        <p:spPr>
          <a:xfrm>
            <a:off x="1371600" y="644900"/>
            <a:ext cx="41148000" cy="2746935"/>
          </a:xfrm>
          <a:prstGeom prst="rect">
            <a:avLst/>
          </a:prstGeom>
        </p:spPr>
        <p:txBody>
          <a:bodyPr lIns="128016" tIns="64008" rIns="128016" bIns="64008"/>
          <a:lstStyle>
            <a:defPPr>
              <a:defRPr kern="1200"/>
            </a:defPPr>
            <a:lvl1pPr algn="ctr" defTabSz="4389028" rtl="0" eaLnBrk="1" latinLnBrk="0" hangingPunct="1">
              <a:spcBef>
                <a:spcPct val="0"/>
              </a:spcBef>
              <a:buNone/>
              <a:defRPr sz="13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8500" b="1" dirty="0">
              <a:solidFill>
                <a:schemeClr val="bg1"/>
              </a:solidFill>
              <a:latin typeface="Montserrat Extra Bold" panose="00000900000000000000" pitchFamily="50" charset="0"/>
            </a:endParaRPr>
          </a:p>
        </p:txBody>
      </p:sp>
      <p:sp>
        <p:nvSpPr>
          <p:cNvPr id="58" name="Text Placeholder 16">
            <a:extLst>
              <a:ext uri="{FF2B5EF4-FFF2-40B4-BE49-F238E27FC236}">
                <a16:creationId xmlns:a16="http://schemas.microsoft.com/office/drawing/2014/main" id="{1F3AA395-C058-4F87-B3A3-A8A8BC543EF9}"/>
              </a:ext>
            </a:extLst>
          </p:cNvPr>
          <p:cNvSpPr txBox="1"/>
          <p:nvPr/>
        </p:nvSpPr>
        <p:spPr>
          <a:xfrm>
            <a:off x="1573882" y="5556983"/>
            <a:ext cx="41148000" cy="821763"/>
          </a:xfrm>
          <a:prstGeom prst="rect">
            <a:avLst/>
          </a:prstGeom>
        </p:spPr>
        <p:txBody>
          <a:bodyPr lIns="128016" tIns="64008" rIns="128016" bIns="64008">
            <a:spAutoFit/>
          </a:bodyPr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500" dirty="0">
                <a:solidFill>
                  <a:schemeClr val="tx1">
                    <a:lumMod val="75000"/>
                    <a:lumOff val="25000"/>
                  </a:schemeClr>
                </a:solidFill>
                <a:latin typeface="Domine" panose="02040503040403060204" pitchFamily="18" charset="0"/>
              </a:rPr>
              <a:t>Prateek Kalra / Lars Henske / Janice Kohrs / Da Yeon Kang</a:t>
            </a:r>
          </a:p>
        </p:txBody>
      </p:sp>
      <p:sp>
        <p:nvSpPr>
          <p:cNvPr id="71" name="Rectangle: Rounded Corners 70"/>
          <p:cNvSpPr/>
          <p:nvPr/>
        </p:nvSpPr>
        <p:spPr>
          <a:xfrm>
            <a:off x="33120682" y="28467031"/>
            <a:ext cx="10058400" cy="3651292"/>
          </a:xfrm>
          <a:prstGeom prst="roundRect">
            <a:avLst>
              <a:gd name="adj" fmla="val 3948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224C3B5-C740-463A-8086-222E05D55D53}"/>
              </a:ext>
            </a:extLst>
          </p:cNvPr>
          <p:cNvSpPr txBox="1"/>
          <p:nvPr/>
        </p:nvSpPr>
        <p:spPr>
          <a:xfrm>
            <a:off x="33577882" y="29777739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1043F711-D47E-42B5-B443-99A2ED27753E}"/>
              </a:ext>
            </a:extLst>
          </p:cNvPr>
          <p:cNvSpPr txBox="1"/>
          <p:nvPr/>
        </p:nvSpPr>
        <p:spPr>
          <a:xfrm>
            <a:off x="33577882" y="29109829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6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Acknowledgements</a:t>
            </a:r>
          </a:p>
        </p:txBody>
      </p:sp>
      <p:sp>
        <p:nvSpPr>
          <p:cNvPr id="42" name="Rectangle: Rounded Corners 41"/>
          <p:cNvSpPr/>
          <p:nvPr/>
        </p:nvSpPr>
        <p:spPr>
          <a:xfrm>
            <a:off x="33120682" y="7030150"/>
            <a:ext cx="10058400" cy="10809466"/>
          </a:xfrm>
          <a:prstGeom prst="roundRect">
            <a:avLst>
              <a:gd name="adj" fmla="val 1477"/>
            </a:avLst>
          </a:prstGeom>
          <a:solidFill>
            <a:srgbClr val="A0BEC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89EBE15B-4246-47D5-A572-FC8BC1A36A14}"/>
              </a:ext>
            </a:extLst>
          </p:cNvPr>
          <p:cNvSpPr txBox="1"/>
          <p:nvPr/>
        </p:nvSpPr>
        <p:spPr>
          <a:xfrm>
            <a:off x="33577882" y="815029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66B428E8-E946-4C04-BA2E-DBE7C90A92EC}"/>
              </a:ext>
            </a:extLst>
          </p:cNvPr>
          <p:cNvSpPr txBox="1"/>
          <p:nvPr/>
        </p:nvSpPr>
        <p:spPr>
          <a:xfrm>
            <a:off x="33577882" y="748238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6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Conclusion</a:t>
            </a:r>
          </a:p>
        </p:txBody>
      </p:sp>
      <p:sp>
        <p:nvSpPr>
          <p:cNvPr id="45" name="Rectangle: Rounded Corners 44"/>
          <p:cNvSpPr/>
          <p:nvPr/>
        </p:nvSpPr>
        <p:spPr>
          <a:xfrm>
            <a:off x="33120682" y="18592023"/>
            <a:ext cx="10058400" cy="9122598"/>
          </a:xfrm>
          <a:prstGeom prst="roundRect">
            <a:avLst>
              <a:gd name="adj" fmla="val 1592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7ABCCD2C-433F-478B-B18B-A4DAD100C702}"/>
              </a:ext>
            </a:extLst>
          </p:cNvPr>
          <p:cNvSpPr txBox="1"/>
          <p:nvPr/>
        </p:nvSpPr>
        <p:spPr>
          <a:xfrm>
            <a:off x="33577882" y="1970743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2F9F16DD-B1FB-447B-BA78-9201D1B2D897}"/>
              </a:ext>
            </a:extLst>
          </p:cNvPr>
          <p:cNvSpPr txBox="1"/>
          <p:nvPr/>
        </p:nvSpPr>
        <p:spPr>
          <a:xfrm>
            <a:off x="33577882" y="1903952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Recommendations</a:t>
            </a:r>
          </a:p>
        </p:txBody>
      </p:sp>
      <p:sp>
        <p:nvSpPr>
          <p:cNvPr id="39" name="Rectangle: Rounded Corners 38"/>
          <p:cNvSpPr/>
          <p:nvPr/>
        </p:nvSpPr>
        <p:spPr>
          <a:xfrm>
            <a:off x="712119" y="7030149"/>
            <a:ext cx="10058400" cy="8552751"/>
          </a:xfrm>
          <a:prstGeom prst="roundRect">
            <a:avLst>
              <a:gd name="adj" fmla="val 1711"/>
            </a:avLst>
          </a:prstGeom>
          <a:solidFill>
            <a:srgbClr val="A0BEC8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46" name="TextBox 45"/>
          <p:cNvSpPr txBox="1"/>
          <p:nvPr/>
        </p:nvSpPr>
        <p:spPr>
          <a:xfrm>
            <a:off x="1169319" y="8352155"/>
            <a:ext cx="9144000" cy="70942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500" dirty="0">
                <a:solidFill>
                  <a:schemeClr val="tx1">
                    <a:lumMod val="75000"/>
                    <a:lumOff val="2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In this project, we aim to predict short-term price changes for the </a:t>
            </a:r>
            <a:r>
              <a:rPr lang="en-US" sz="3500" b="1" dirty="0"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top 10 US tech stocks, Gold, and Bitcoin</a:t>
            </a:r>
            <a:r>
              <a:rPr lang="en-US" sz="3500" dirty="0">
                <a:solidFill>
                  <a:schemeClr val="tx1">
                    <a:lumMod val="75000"/>
                    <a:lumOff val="2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. We use a deep learning model called </a:t>
            </a:r>
            <a:r>
              <a:rPr lang="en-US" sz="3500" b="1" dirty="0"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LSTM</a:t>
            </a:r>
            <a:r>
              <a:rPr lang="en-US" sz="3500" dirty="0">
                <a:solidFill>
                  <a:schemeClr val="tx1">
                    <a:lumMod val="75000"/>
                    <a:lumOff val="2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, which is good at working with time-based data like stock prices. To improve our predictions, we also include news headlines to understand market sentiment. We used data from </a:t>
            </a:r>
            <a:r>
              <a:rPr lang="en-US" sz="3500" b="1" dirty="0"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August 18, 2023, to March 18, 2024</a:t>
            </a:r>
            <a:r>
              <a:rPr lang="en-US" sz="3500" dirty="0">
                <a:solidFill>
                  <a:schemeClr val="tx1">
                    <a:lumMod val="75000"/>
                    <a:lumOff val="2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. Our results show that combining price data with news sentiment gives better predictions than using price data alone.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69319" y="748238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Abstract &amp; Introduction</a:t>
            </a:r>
          </a:p>
        </p:txBody>
      </p:sp>
      <p:sp>
        <p:nvSpPr>
          <p:cNvPr id="43" name="Rectangle: Rounded Corners 42"/>
          <p:cNvSpPr/>
          <p:nvPr/>
        </p:nvSpPr>
        <p:spPr>
          <a:xfrm>
            <a:off x="712119" y="16234303"/>
            <a:ext cx="10058400" cy="6549497"/>
          </a:xfrm>
          <a:prstGeom prst="roundRect">
            <a:avLst>
              <a:gd name="adj" fmla="val 2004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B320F11-3F85-4920-92E0-15D89C7AF4D2}"/>
              </a:ext>
            </a:extLst>
          </p:cNvPr>
          <p:cNvSpPr txBox="1"/>
          <p:nvPr/>
        </p:nvSpPr>
        <p:spPr>
          <a:xfrm>
            <a:off x="1169318" y="17571894"/>
            <a:ext cx="9144000" cy="49398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500" b="1" dirty="0"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LSTM</a:t>
            </a:r>
            <a:r>
              <a:rPr lang="en-US" sz="3500" dirty="0"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 (Long Short-Term Memory) </a:t>
            </a:r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is a type of </a:t>
            </a:r>
            <a:r>
              <a:rPr lang="en-US" sz="3500" b="1" dirty="0"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neural network</a:t>
            </a:r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 that’s good at learning patterns in time-series data, like stock prices. Unlike regular models, LSTM can </a:t>
            </a:r>
            <a:r>
              <a:rPr lang="en-US" sz="3500" dirty="0"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remember</a:t>
            </a:r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 important information from the past and </a:t>
            </a:r>
            <a:r>
              <a:rPr lang="en-US" sz="3500" dirty="0"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forget</a:t>
            </a:r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 what's not useful, using special gates. This makes it ideal for predicting future values based on historical trends.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DB2E49A-CE7A-4210-AE9F-5037030C938E}"/>
              </a:ext>
            </a:extLst>
          </p:cNvPr>
          <p:cNvSpPr txBox="1"/>
          <p:nvPr/>
        </p:nvSpPr>
        <p:spPr>
          <a:xfrm>
            <a:off x="1169319" y="16584490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What is LSTM? </a:t>
            </a:r>
          </a:p>
        </p:txBody>
      </p:sp>
      <p:sp>
        <p:nvSpPr>
          <p:cNvPr id="44" name="Rectangle: Rounded Corners 43"/>
          <p:cNvSpPr/>
          <p:nvPr/>
        </p:nvSpPr>
        <p:spPr>
          <a:xfrm>
            <a:off x="11482639" y="7062659"/>
            <a:ext cx="10058400" cy="10168162"/>
          </a:xfrm>
          <a:prstGeom prst="roundRect">
            <a:avLst>
              <a:gd name="adj" fmla="val 2700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42B0A569-B3B2-4D39-9EF7-F3CC8A0EDD42}"/>
              </a:ext>
            </a:extLst>
          </p:cNvPr>
          <p:cNvSpPr txBox="1"/>
          <p:nvPr/>
        </p:nvSpPr>
        <p:spPr>
          <a:xfrm>
            <a:off x="11968940" y="8458045"/>
            <a:ext cx="9144000" cy="8320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pPr marL="457200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r>
              <a:rPr lang="en-US" altLang="ko-KR" sz="3500" b="1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Top 10 Tech Stocks in the US </a:t>
            </a:r>
            <a:b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- Apple (AAPL) </a:t>
            </a:r>
            <a:b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- Microsoft (MSFT)</a:t>
            </a:r>
            <a:b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- Amazon (AMZN)</a:t>
            </a:r>
            <a:b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- Alphabet (GOOGL)</a:t>
            </a:r>
            <a:b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- Nvidia (NVDA)</a:t>
            </a:r>
            <a:b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- Tesla (TSLA)</a:t>
            </a:r>
            <a:b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- Palantir (PLTR)</a:t>
            </a:r>
            <a:b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- Meta (META)</a:t>
            </a:r>
            <a:b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- Uber Technologies (UBER)</a:t>
            </a:r>
            <a:b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- Robinhood Markets (HOOD)</a:t>
            </a:r>
          </a:p>
          <a:p>
            <a:pPr marL="457200" indent="-457200">
              <a:lnSpc>
                <a:spcPct val="115000"/>
              </a:lnSpc>
              <a:spcAft>
                <a:spcPts val="1000"/>
              </a:spcAft>
              <a:buFont typeface="Arial" panose="020B0604020202020204" pitchFamily="34" charset="0"/>
              <a:buChar char="•"/>
            </a:pPr>
            <a:endParaRPr lang="ko-KR" altLang="ko-KR" sz="2400" dirty="0">
              <a:solidFill>
                <a:schemeClr val="tx1">
                  <a:lumMod val="65000"/>
                  <a:lumOff val="35000"/>
                </a:schemeClr>
              </a:solidFill>
              <a:effectLst/>
              <a:latin typeface="Domine" panose="020B0604020202020204" charset="0"/>
              <a:ea typeface="MS Mincho" panose="02020609040205080304" pitchFamily="49" charset="-128"/>
              <a:cs typeface="Times New Roman" panose="020206030504050203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ko-KR" sz="350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  <a:latin typeface="Domine" panose="020B0604020202020204" charset="0"/>
                <a:ea typeface="MS Mincho" panose="02020609040205080304" pitchFamily="49" charset="-128"/>
                <a:cs typeface="Times New Roman" panose="02020603050405020304" pitchFamily="18" charset="0"/>
              </a:rPr>
              <a:t>Bitcoin &amp; Gold</a:t>
            </a:r>
            <a:endParaRPr lang="en-US" sz="3500" dirty="0">
              <a:solidFill>
                <a:schemeClr val="tx1">
                  <a:lumMod val="65000"/>
                  <a:lumOff val="35000"/>
                </a:schemeClr>
              </a:solidFill>
              <a:latin typeface="Domine" panose="020B060402020202020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A3FBD3B-628E-43FF-A33F-32B15438C990}"/>
              </a:ext>
            </a:extLst>
          </p:cNvPr>
          <p:cNvSpPr txBox="1"/>
          <p:nvPr/>
        </p:nvSpPr>
        <p:spPr>
          <a:xfrm>
            <a:off x="11939839" y="7482385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Which stocks did we analyze? </a:t>
            </a:r>
          </a:p>
        </p:txBody>
      </p:sp>
      <p:sp>
        <p:nvSpPr>
          <p:cNvPr id="40" name="Rectangle: Rounded Corners 39"/>
          <p:cNvSpPr/>
          <p:nvPr/>
        </p:nvSpPr>
        <p:spPr>
          <a:xfrm>
            <a:off x="11482639" y="17839616"/>
            <a:ext cx="10058400" cy="14314406"/>
          </a:xfrm>
          <a:prstGeom prst="roundRect">
            <a:avLst>
              <a:gd name="adj" fmla="val 1822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29FDCEBF-DA7D-4AE0-A6BD-06A1FEAE41E1}"/>
              </a:ext>
            </a:extLst>
          </p:cNvPr>
          <p:cNvSpPr txBox="1"/>
          <p:nvPr/>
        </p:nvSpPr>
        <p:spPr>
          <a:xfrm>
            <a:off x="11939838" y="19034582"/>
            <a:ext cx="9173101" cy="130035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Inspired by a study on the Vietnamese stock market (Phuoc et al., 2024), our architecture includes:</a:t>
            </a:r>
          </a:p>
          <a:p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Domine" panose="0204050304040306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Input Features: 214 days rolling window of closing prices, trading volume, and technical indicators </a:t>
            </a:r>
          </a:p>
          <a:p>
            <a:pPr marL="731838" indent="-731838"/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    (RSI, MACD, SMA)</a:t>
            </a:r>
          </a:p>
          <a:p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Domine" panose="0204050304040306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Layers:</a:t>
            </a:r>
          </a:p>
          <a:p>
            <a:pPr marL="639763" indent="-639763"/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   - LSTM Layer 1: 30 units, ReLU, Dropout(0.1)</a:t>
            </a:r>
          </a:p>
          <a:p>
            <a:pPr marL="639763" indent="-639763"/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   - LSTM Layer 2: 40 units, ReLU,  Dropout(0.1)</a:t>
            </a:r>
          </a:p>
          <a:p>
            <a:pPr marL="639763" indent="-639763"/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   - Dense Layer: Output prediction for   next-day closing price</a:t>
            </a:r>
          </a:p>
          <a:p>
            <a:endParaRPr lang="en-US" sz="1400" dirty="0">
              <a:solidFill>
                <a:schemeClr val="tx1">
                  <a:lumMod val="65000"/>
                  <a:lumOff val="35000"/>
                </a:schemeClr>
              </a:solidFill>
              <a:latin typeface="Domine" panose="0204050304040306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Training:</a:t>
            </a:r>
          </a:p>
          <a:p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   - Epochs: 1000</a:t>
            </a:r>
          </a:p>
          <a:p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   - Early stopping: Patience = 8</a:t>
            </a:r>
          </a:p>
          <a:p>
            <a:endParaRPr lang="en-US" sz="3500" dirty="0">
              <a:solidFill>
                <a:schemeClr val="tx1">
                  <a:lumMod val="65000"/>
                  <a:lumOff val="35000"/>
                </a:schemeClr>
              </a:solidFill>
              <a:latin typeface="Domine" panose="02040503040403060204" pitchFamily="18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Tools:</a:t>
            </a:r>
          </a:p>
          <a:p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- Python (</a:t>
            </a:r>
            <a:r>
              <a:rPr lang="en-US" sz="35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Keras</a:t>
            </a:r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/TensorFlow)</a:t>
            </a:r>
          </a:p>
          <a:p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- Yahoo Finance for data</a:t>
            </a:r>
          </a:p>
          <a:p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- Scikit-learn for preprocessing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15232698-55E6-4C6D-9947-A1F5F1CCE1E0}"/>
              </a:ext>
            </a:extLst>
          </p:cNvPr>
          <p:cNvSpPr txBox="1"/>
          <p:nvPr/>
        </p:nvSpPr>
        <p:spPr>
          <a:xfrm>
            <a:off x="11939839" y="18366671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6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Methodology</a:t>
            </a:r>
          </a:p>
        </p:txBody>
      </p:sp>
      <p:sp>
        <p:nvSpPr>
          <p:cNvPr id="41" name="Rectangle: Rounded Corners 40"/>
          <p:cNvSpPr/>
          <p:nvPr/>
        </p:nvSpPr>
        <p:spPr>
          <a:xfrm>
            <a:off x="22311361" y="7062659"/>
            <a:ext cx="10058400" cy="25055664"/>
          </a:xfrm>
          <a:prstGeom prst="roundRect">
            <a:avLst>
              <a:gd name="adj" fmla="val 1937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65C4E645-8814-452E-ABF9-94046EFDF552}"/>
              </a:ext>
            </a:extLst>
          </p:cNvPr>
          <p:cNvSpPr txBox="1"/>
          <p:nvPr/>
        </p:nvSpPr>
        <p:spPr>
          <a:xfrm>
            <a:off x="22768561" y="8150297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Add your information, graphs and images to this section.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7381E656-1550-4678-91D6-50348E24F942}"/>
              </a:ext>
            </a:extLst>
          </p:cNvPr>
          <p:cNvSpPr txBox="1"/>
          <p:nvPr/>
        </p:nvSpPr>
        <p:spPr>
          <a:xfrm>
            <a:off x="22768561" y="7482385"/>
            <a:ext cx="9144000" cy="6552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600" b="1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Results</a:t>
            </a:r>
          </a:p>
        </p:txBody>
      </p:sp>
      <p:pic>
        <p:nvPicPr>
          <p:cNvPr id="3" name="Picture 2" descr="A blue and white logo&#10;&#10;AI-generated content may be incorrect.">
            <a:extLst>
              <a:ext uri="{FF2B5EF4-FFF2-40B4-BE49-F238E27FC236}">
                <a16:creationId xmlns:a16="http://schemas.microsoft.com/office/drawing/2014/main" id="{24A3EDA6-E03B-8415-EE72-E99B3A8FB07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0427"/>
            <a:ext cx="4895088" cy="1801368"/>
          </a:xfrm>
          <a:prstGeom prst="rect">
            <a:avLst/>
          </a:prstGeom>
        </p:spPr>
      </p:pic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4E15B8DD-7F9A-7D6C-95EA-1E55D5473FE0}"/>
              </a:ext>
            </a:extLst>
          </p:cNvPr>
          <p:cNvSpPr txBox="1"/>
          <p:nvPr/>
        </p:nvSpPr>
        <p:spPr>
          <a:xfrm>
            <a:off x="1371600" y="1741241"/>
            <a:ext cx="41148000" cy="3176254"/>
          </a:xfrm>
          <a:prstGeom prst="rect">
            <a:avLst/>
          </a:prstGeom>
        </p:spPr>
        <p:txBody>
          <a:bodyPr lIns="128016" tIns="64008" rIns="128016" bIns="64008">
            <a:spAutoFit/>
          </a:bodyPr>
          <a:lstStyle>
            <a:defPPr>
              <a:defRPr kern="1200"/>
            </a:defPPr>
            <a:lvl1pPr marL="0" indent="0" algn="l" defTabSz="4389028" rtl="0" eaLnBrk="1" latinLnBrk="0" hangingPunct="1">
              <a:spcBef>
                <a:spcPct val="20000"/>
              </a:spcBef>
              <a:buFont typeface="Arial" pitchFamily="34" charset="0"/>
              <a:buNone/>
              <a:defRPr sz="13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566086" indent="-1371572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5486286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7680800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9875314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2069828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342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458857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653371" indent="-1097257" algn="l" defTabSz="438902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9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9000" dirty="0">
                <a:solidFill>
                  <a:schemeClr val="tx1">
                    <a:lumMod val="75000"/>
                    <a:lumOff val="25000"/>
                  </a:schemeClr>
                </a:solidFill>
                <a:latin typeface="Domine" panose="02040503040403060204" pitchFamily="18" charset="0"/>
              </a:rPr>
              <a:t>Forecasting Financial Futures: </a:t>
            </a:r>
          </a:p>
          <a:p>
            <a:pPr algn="ctr"/>
            <a:r>
              <a:rPr lang="en-US" sz="9000" dirty="0">
                <a:solidFill>
                  <a:schemeClr val="tx1">
                    <a:lumMod val="75000"/>
                    <a:lumOff val="25000"/>
                  </a:schemeClr>
                </a:solidFill>
                <a:latin typeface="Domine" panose="02040503040403060204" pitchFamily="18" charset="0"/>
              </a:rPr>
              <a:t>LSTM Approach to Tech, Gold &amp; Bitcoin</a:t>
            </a:r>
          </a:p>
        </p:txBody>
      </p:sp>
      <p:pic>
        <p:nvPicPr>
          <p:cNvPr id="7" name="Picture 6" descr="A graphic of a graph with a coin and a rising arrow&#10;&#10;AI-generated content may be incorrect.">
            <a:extLst>
              <a:ext uri="{FF2B5EF4-FFF2-40B4-BE49-F238E27FC236}">
                <a16:creationId xmlns:a16="http://schemas.microsoft.com/office/drawing/2014/main" id="{0D67F4DA-B47D-7CB9-8B6E-EFF11588FCC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54" t="17675" r="17914" b="20186"/>
          <a:stretch/>
        </p:blipFill>
        <p:spPr>
          <a:xfrm>
            <a:off x="5370340" y="1972609"/>
            <a:ext cx="3633468" cy="3358256"/>
          </a:xfrm>
          <a:prstGeom prst="rect">
            <a:avLst/>
          </a:prstGeom>
        </p:spPr>
      </p:pic>
      <p:pic>
        <p:nvPicPr>
          <p:cNvPr id="9" name="Picture 8" descr="A group of gold coins&#10;&#10;AI-generated content may be incorrect.">
            <a:extLst>
              <a:ext uri="{FF2B5EF4-FFF2-40B4-BE49-F238E27FC236}">
                <a16:creationId xmlns:a16="http://schemas.microsoft.com/office/drawing/2014/main" id="{9979B10F-0097-6059-54AF-8F21820E70C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64503" y="1146059"/>
            <a:ext cx="5487314" cy="3658514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63FA3D2-7063-3E33-8096-AB7D8C030D15}"/>
              </a:ext>
            </a:extLst>
          </p:cNvPr>
          <p:cNvSpPr/>
          <p:nvPr/>
        </p:nvSpPr>
        <p:spPr>
          <a:xfrm>
            <a:off x="746627" y="27865446"/>
            <a:ext cx="10058400" cy="4286250"/>
          </a:xfrm>
          <a:prstGeom prst="roundRect">
            <a:avLst>
              <a:gd name="adj" fmla="val 2004"/>
            </a:avLst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9F03A22-522A-CAB3-1E07-746663F8F53F}"/>
              </a:ext>
            </a:extLst>
          </p:cNvPr>
          <p:cNvSpPr txBox="1"/>
          <p:nvPr/>
        </p:nvSpPr>
        <p:spPr>
          <a:xfrm>
            <a:off x="1272044" y="29109829"/>
            <a:ext cx="9144000" cy="27853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500" dirty="0">
                <a:solidFill>
                  <a:schemeClr val="tx1">
                    <a:lumMod val="65000"/>
                    <a:lumOff val="35000"/>
                  </a:schemeClr>
                </a:solidFill>
                <a:latin typeface="Domine" panose="02040503040403060204" pitchFamily="18" charset="0"/>
                <a:ea typeface="Open Sans" panose="020B0606030504020204" pitchFamily="34" charset="0"/>
                <a:cs typeface="Open Sans" panose="020B0606030504020204" pitchFamily="34" charset="0"/>
              </a:rPr>
              <a:t>Can a deep learning model based on Long Short-Term Memory (LSTM) networks consistently predict short-term price trends in US large-cap stocks better than traditional technical indicators?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42722A5-61FB-114B-5DA3-EC4C0C110DCC}"/>
              </a:ext>
            </a:extLst>
          </p:cNvPr>
          <p:cNvSpPr txBox="1"/>
          <p:nvPr/>
        </p:nvSpPr>
        <p:spPr>
          <a:xfrm>
            <a:off x="1272044" y="28164472"/>
            <a:ext cx="914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kern="1200"/>
            </a:defPPr>
          </a:lstStyle>
          <a:p>
            <a:r>
              <a:rPr lang="en-US" sz="3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ontserrat Extra Bold" panose="00000900000000000000" pitchFamily="50" charset="0"/>
              </a:rPr>
              <a:t>Research Question</a:t>
            </a:r>
          </a:p>
        </p:txBody>
      </p:sp>
      <p:pic>
        <p:nvPicPr>
          <p:cNvPr id="16" name="Picture 15" descr="A diagram of a tank&#10;&#10;AI-generated content may be incorrect.">
            <a:extLst>
              <a:ext uri="{FF2B5EF4-FFF2-40B4-BE49-F238E27FC236}">
                <a16:creationId xmlns:a16="http://schemas.microsoft.com/office/drawing/2014/main" id="{AFACF212-6353-180B-AB0E-2BD1079CC1E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89" t="8711" r="3255" b="7676"/>
          <a:stretch/>
        </p:blipFill>
        <p:spPr>
          <a:xfrm>
            <a:off x="3460258" y="22891921"/>
            <a:ext cx="6388592" cy="4632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8123355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assessingslate|08-202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sential">
      <a:majorFont>
        <a:latin typeface="Arial Black"/>
        <a:ea typeface="Arial"/>
        <a:cs typeface="Arial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464</Words>
  <Application>Microsoft Office PowerPoint</Application>
  <PresentationFormat>Benutzerdefiniert</PresentationFormat>
  <Paragraphs>40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6" baseType="lpstr">
      <vt:lpstr>Montserrat Extra Bold</vt:lpstr>
      <vt:lpstr>Domine</vt:lpstr>
      <vt:lpstr>Arial</vt:lpstr>
      <vt:lpstr>Calibri</vt:lpstr>
      <vt:lpstr>Office Theme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Template For Scientific Poster Presentation</dc:subject>
  <dc:creator>Graphicsland/MakeSigns.com</dc:creator>
  <cp:keywords>scientific, research, template, custom, poster, presentation, symposium, printing, powerpoint, create, design, example, sample, download</cp:keywords>
  <dc:description>We offer free powerpoint poster templates to help you design your very own scientific poster presentation.</dc:description>
  <cp:lastModifiedBy>Kohrs, Janice</cp:lastModifiedBy>
  <cp:revision>22</cp:revision>
  <dcterms:modified xsi:type="dcterms:W3CDTF">2025-06-02T09:48:22Z</dcterms:modified>
  <cp:category>science research poster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efa4170-0d19-0005-0004-bc88714345d2_Enabled">
    <vt:lpwstr>true</vt:lpwstr>
  </property>
  <property fmtid="{D5CDD505-2E9C-101B-9397-08002B2CF9AE}" pid="3" name="MSIP_Label_defa4170-0d19-0005-0004-bc88714345d2_SetDate">
    <vt:lpwstr>2025-06-02T07:21:09Z</vt:lpwstr>
  </property>
  <property fmtid="{D5CDD505-2E9C-101B-9397-08002B2CF9AE}" pid="4" name="MSIP_Label_defa4170-0d19-0005-0004-bc88714345d2_Method">
    <vt:lpwstr>Standard</vt:lpwstr>
  </property>
  <property fmtid="{D5CDD505-2E9C-101B-9397-08002B2CF9AE}" pid="5" name="MSIP_Label_defa4170-0d19-0005-0004-bc88714345d2_Name">
    <vt:lpwstr>defa4170-0d19-0005-0004-bc88714345d2</vt:lpwstr>
  </property>
  <property fmtid="{D5CDD505-2E9C-101B-9397-08002B2CF9AE}" pid="6" name="MSIP_Label_defa4170-0d19-0005-0004-bc88714345d2_SiteId">
    <vt:lpwstr>2c6cac8d-ab61-47b3-8209-4df2e46aefbc</vt:lpwstr>
  </property>
  <property fmtid="{D5CDD505-2E9C-101B-9397-08002B2CF9AE}" pid="7" name="MSIP_Label_defa4170-0d19-0005-0004-bc88714345d2_ActionId">
    <vt:lpwstr>10e4ecbd-7b46-4e14-98cc-47f9ae6970ed</vt:lpwstr>
  </property>
  <property fmtid="{D5CDD505-2E9C-101B-9397-08002B2CF9AE}" pid="8" name="MSIP_Label_defa4170-0d19-0005-0004-bc88714345d2_ContentBits">
    <vt:lpwstr>0</vt:lpwstr>
  </property>
  <property fmtid="{D5CDD505-2E9C-101B-9397-08002B2CF9AE}" pid="9" name="MSIP_Label_defa4170-0d19-0005-0004-bc88714345d2_Tag">
    <vt:lpwstr>10, 3, 0, 1</vt:lpwstr>
  </property>
</Properties>
</file>